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8BDF8"/>
                </a:solidFill>
                <a:latin typeface="Arial"/>
              </a:rPr>
              <a:t>FULL STACK DEVELOPMENT - I (PS-FSD)  |  FINAL PROJECT PRESENTATION</a:t>
            </a:r>
          </a:p>
          <a:p>
            <a:pPr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Arial"/>
              </a:rPr>
              <a:t>GrowthOS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FBBF24"/>
                </a:solidFill>
                <a:latin typeface="Arial"/>
              </a:rPr>
              <a:t>The AI Growth Operating System for E-Commerce Brands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94A3B8"/>
                </a:solidFill>
                <a:latin typeface="Arial"/>
              </a:rPr>
              <a:t>Institutional-Grade Intelligence for D2C Founders — 7 Parallel AI Agents, 1 Unified Diagnosis</a:t>
            </a:r>
          </a:p>
          <a:p>
            <a:pPr>
              <a:spcBef>
                <a:spcPts val="3600"/>
              </a:spcBef>
            </a:pPr>
            <a:r>
              <a:rPr sz="1100">
                <a:solidFill>
                  <a:srgbClr val="64748B"/>
                </a:solidFill>
                <a:latin typeface="Arial"/>
              </a:rPr>
              <a:t>Tech Stack: Next.js 16 (App Router + Turbopack) · PostgreSQL · Prisma 6 · Groq LPU (Llama 3.3-70B) · React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MARKET FRICTION &amp; OPPORTUNITY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FFFFFF"/>
                </a:solidFill>
                <a:latin typeface="Arial"/>
              </a:rPr>
              <a:t>The D2C E-Commerce Operational &amp; Margin Crisis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Why direct-to-consumer brands struggle to turn top-line revenue into net profitability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Arial"/>
              </a:rPr>
              <a:t>1. Severe Data Silos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Arial"/>
              </a:rPr>
              <a:t>• Fragmented Dashboards: </a:t>
            </a:r>
            <a:r>
              <a:rPr sz="1100">
                <a:solidFill>
                  <a:srgbClr val="E2E8F0"/>
                </a:solidFill>
                <a:latin typeface="Arial"/>
              </a:rPr>
              <a:t>Founders manage 6 to 10 disconnected tools (Shopify, Meta, GA4, Shiprocket, Razorpay).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Arial"/>
              </a:rPr>
              <a:t>• Analytics Fatigue: </a:t>
            </a:r>
            <a:r>
              <a:rPr sz="1100">
                <a:solidFill>
                  <a:srgbClr val="E2E8F0"/>
                </a:solidFill>
                <a:latin typeface="Arial"/>
              </a:rPr>
              <a:t>Data is scattered across conflicting attribution windows and metrics.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Arial"/>
              </a:rPr>
              <a:t>• Zero Cross-Correlation: </a:t>
            </a:r>
            <a:r>
              <a:rPr sz="1100">
                <a:solidFill>
                  <a:srgbClr val="E2E8F0"/>
                </a:solidFill>
                <a:latin typeface="Arial"/>
              </a:rPr>
              <a:t>Ad spend on Meta cannot easily correlate with shipping delivery success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87171"/>
                </a:solidFill>
                <a:latin typeface="Arial"/>
              </a:rPr>
              <a:t>2. The Indian COD/RTO Drain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Arial"/>
              </a:rPr>
              <a:t>• 60–75% COD Dependency: </a:t>
            </a:r>
            <a:r>
              <a:rPr sz="1100">
                <a:solidFill>
                  <a:srgbClr val="E2E8F0"/>
                </a:solidFill>
                <a:latin typeface="Arial"/>
              </a:rPr>
              <a:t>Cash on Delivery dominates customer preference across tier-2 and tier-3 cities.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Arial"/>
              </a:rPr>
              <a:t>• 18–30% RTO Failure Rate: </a:t>
            </a:r>
            <a:r>
              <a:rPr sz="1100">
                <a:solidFill>
                  <a:srgbClr val="E2E8F0"/>
                </a:solidFill>
                <a:latin typeface="Arial"/>
              </a:rPr>
              <a:t>Over 20% of orders return to origin, burning two-way courier freight fees.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Arial"/>
              </a:rPr>
              <a:t>• Net Margin Erosion: </a:t>
            </a:r>
            <a:r>
              <a:rPr sz="1100">
                <a:solidFill>
                  <a:srgbClr val="E2E8F0"/>
                </a:solidFill>
                <a:latin typeface="Arial"/>
              </a:rPr>
              <a:t>Unabsorbed return shipping losses cut net profit margins by 3.2 to 5 percentage 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Arial"/>
              </a:rPr>
              <a:t>3. Lack of Prescriptive Advice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Arial"/>
              </a:rPr>
              <a:t>• CAC Inflation: </a:t>
            </a:r>
            <a:r>
              <a:rPr sz="1100">
                <a:solidFill>
                  <a:srgbClr val="E2E8F0"/>
                </a:solidFill>
                <a:latin typeface="Arial"/>
              </a:rPr>
              <a:t>Blended Meta &amp; Google CAC has inflated 40% YoY, squeezing Contribution Margin 2.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Arial"/>
              </a:rPr>
              <a:t>• Passive Charts: </a:t>
            </a:r>
            <a:r>
              <a:rPr sz="1100">
                <a:solidFill>
                  <a:srgbClr val="E2E8F0"/>
                </a:solidFill>
                <a:latin typeface="Arial"/>
              </a:rPr>
              <a:t>Dashboards show what happened, but never explain what specific actions to take.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Arial"/>
              </a:rPr>
              <a:t>• Expensive Consultants: </a:t>
            </a:r>
            <a:r>
              <a:rPr sz="1100">
                <a:solidFill>
                  <a:srgbClr val="E2E8F0"/>
                </a:solidFill>
                <a:latin typeface="Arial"/>
              </a:rPr>
              <a:t>Institutional audits from McKinsey/BCG cost $20k+, inaccessible to emerging brands.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PRODUCT INNOVATION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FFFFFF"/>
                </a:solidFill>
                <a:latin typeface="Arial"/>
              </a:rPr>
              <a:t>GrowthOS: The Unified D2C Growth Operating System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Replacing passive analytics dashboards with active, multi-agent AI diagnosis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Arial"/>
              </a:rPr>
              <a:t>⚡ 7 Parallel AI Domain Agents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Arial"/>
              </a:rPr>
              <a:t>• Sub-4 Second Diagnosis: </a:t>
            </a:r>
            <a:r>
              <a:rPr sz="1100">
                <a:solidFill>
                  <a:srgbClr val="E2E8F0"/>
                </a:solidFill>
                <a:latin typeface="Arial"/>
              </a:rPr>
              <a:t>Orchestrates 7 specialized LLM agents in parallel via Groq LPUs.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Arial"/>
              </a:rPr>
              <a:t>• Holistic Perspective: </a:t>
            </a:r>
            <a:r>
              <a:rPr sz="1100">
                <a:solidFill>
                  <a:srgbClr val="E2E8F0"/>
                </a:solidFill>
                <a:latin typeface="Arial"/>
              </a:rPr>
              <a:t>Simultaneously evaluates Finance, Marketing, Ops, Tech, Unit Economics, Inventory, and Retention.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Arial"/>
              </a:rPr>
              <a:t>🎯 Prescriptive SOPs &amp; Tool Paths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Arial"/>
              </a:rPr>
              <a:t>• Actionable Roadmap: </a:t>
            </a:r>
            <a:r>
              <a:rPr sz="1100">
                <a:solidFill>
                  <a:srgbClr val="E2E8F0"/>
                </a:solidFill>
                <a:latin typeface="Arial"/>
              </a:rPr>
              <a:t>Outputs quantified dollar impact, estimated timeline, and effort levels.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Arial"/>
              </a:rPr>
              <a:t>• Direct Tool Guidance: </a:t>
            </a:r>
            <a:r>
              <a:rPr sz="1100">
                <a:solidFill>
                  <a:srgbClr val="E2E8F0"/>
                </a:solidFill>
                <a:latin typeface="Arial"/>
              </a:rPr>
              <a:t>Step-by-step SOPs with assigned tools (Shiprocket NDR, Razorpay Magic, Interakt).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Arial"/>
              </a:rPr>
              <a:t>🧪 Interactive Strategy Simulator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Arial"/>
              </a:rPr>
              <a:t>• What-If Laboratory: </a:t>
            </a:r>
            <a:r>
              <a:rPr sz="1100">
                <a:solidFill>
                  <a:srgbClr val="E2E8F0"/>
                </a:solidFill>
                <a:latin typeface="Arial"/>
              </a:rPr>
              <a:t>Founders type natural language hypotheses to model business adjustments.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Arial"/>
              </a:rPr>
              <a:t>• 30 vs 90 Day Projections: </a:t>
            </a:r>
            <a:r>
              <a:rPr sz="1100">
                <a:solidFill>
                  <a:srgbClr val="E2E8F0"/>
                </a:solidFill>
                <a:latin typeface="Arial"/>
              </a:rPr>
              <a:t>Forecasts immediate cash flow volatility vs long-term EBITDA expansion.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9768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48056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C084FC"/>
                </a:solidFill>
                <a:latin typeface="Arial"/>
              </a:rPr>
              <a:t>📄 Board-Ready CEO Executive Reports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Arial"/>
              </a:rPr>
              <a:t>• Executive Synthesis: </a:t>
            </a:r>
            <a:r>
              <a:rPr sz="1100">
                <a:solidFill>
                  <a:srgbClr val="E2E8F0"/>
                </a:solidFill>
                <a:latin typeface="Arial"/>
              </a:rPr>
              <a:t>Highlights Chief Risk, Top Opportunity, and mandatory 7-day tactical priorities.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Arial"/>
              </a:rPr>
              <a:t>• 1-Click PDF Export: </a:t>
            </a:r>
            <a:r>
              <a:rPr sz="1100">
                <a:solidFill>
                  <a:srgbClr val="E2E8F0"/>
                </a:solidFill>
                <a:latin typeface="Arial"/>
              </a:rPr>
              <a:t>Client-side high-resolution PDF generation ready for investors and team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ENGINEERING EXCELLENCE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FFFFFF"/>
                </a:solidFill>
                <a:latin typeface="Arial"/>
              </a:rPr>
              <a:t>Full-Stack System Architecture &amp; Technology Stack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Designed for extreme low-latency inference, strict type safety, and relational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1031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Arial"/>
              </a:rPr>
              <a:t>Frontend &amp; SSR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Next.js 16 (Turbopack): </a:t>
            </a:r>
            <a:r>
              <a:rPr sz="1000">
                <a:solidFill>
                  <a:srgbClr val="E2E8F0"/>
                </a:solidFill>
                <a:latin typeface="Arial"/>
              </a:rPr>
              <a:t>App Router, hybrid SSR and React Server Components.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React 19: </a:t>
            </a:r>
            <a:r>
              <a:rPr sz="1000">
                <a:solidFill>
                  <a:srgbClr val="E2E8F0"/>
                </a:solidFill>
                <a:latin typeface="Arial"/>
              </a:rPr>
              <a:t>Concurrent rendering &amp; zero-bundle server logic.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Tailwind CSS 3.4: </a:t>
            </a:r>
            <a:r>
              <a:rPr sz="1000">
                <a:solidFill>
                  <a:srgbClr val="E2E8F0"/>
                </a:solidFill>
                <a:latin typeface="Arial"/>
              </a:rPr>
              <a:t>Curated dark mode palette (#0D0D0E, zinc-900).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Recharts &amp; jsPDF: </a:t>
            </a:r>
            <a:r>
              <a:rPr sz="1000">
                <a:solidFill>
                  <a:srgbClr val="E2E8F0"/>
                </a:solidFill>
                <a:latin typeface="Arial"/>
              </a:rPr>
              <a:t>Dynamic SVG metrics &amp; client-side PDF export.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01168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194560"/>
            <a:ext cx="21031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Arial"/>
              </a:rPr>
              <a:t>Persistence Tier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PostgreSQL: </a:t>
            </a:r>
            <a:r>
              <a:rPr sz="1000">
                <a:solidFill>
                  <a:srgbClr val="E2E8F0"/>
                </a:solidFill>
                <a:latin typeface="Arial"/>
              </a:rPr>
              <a:t>Full ACID compliance, foreign keys, MVCC concurrency.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Prisma 6.5 ORM: </a:t>
            </a:r>
            <a:r>
              <a:rPr sz="1000">
                <a:solidFill>
                  <a:srgbClr val="E2E8F0"/>
                </a:solidFill>
                <a:latin typeface="Arial"/>
              </a:rPr>
              <a:t>Type-safe query builder, automated DDL migrations.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Hybrid Relational + JSONB: </a:t>
            </a:r>
            <a:r>
              <a:rPr sz="1000">
                <a:solidFill>
                  <a:srgbClr val="E2E8F0"/>
                </a:solidFill>
                <a:latin typeface="Arial"/>
              </a:rPr>
              <a:t>Strict 3NF for stores; JSONB for multi-agent payloads.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Supabase Pooler: </a:t>
            </a:r>
            <a:r>
              <a:rPr sz="1000">
                <a:solidFill>
                  <a:srgbClr val="E2E8F0"/>
                </a:solidFill>
                <a:latin typeface="Arial"/>
              </a:rPr>
              <a:t>Transaction pooling on port 6543.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21031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Arial"/>
              </a:rPr>
              <a:t>AI &amp; Inference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Groq SDK (LPU): </a:t>
            </a:r>
            <a:r>
              <a:rPr sz="1000">
                <a:solidFill>
                  <a:srgbClr val="E2E8F0"/>
                </a:solidFill>
                <a:latin typeface="Arial"/>
              </a:rPr>
              <a:t>Language Processing Unit hardware delivering &gt;450 tokens/sec.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Llama 3.3-70B: </a:t>
            </a:r>
            <a:r>
              <a:rPr sz="1000">
                <a:solidFill>
                  <a:srgbClr val="E2E8F0"/>
                </a:solidFill>
                <a:latin typeface="Arial"/>
              </a:rPr>
              <a:t>Ultra-fast versatile model fine-tuned for structured JSON extraction.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Parallel Orchestrator: </a:t>
            </a:r>
            <a:r>
              <a:rPr sz="1000">
                <a:solidFill>
                  <a:srgbClr val="E2E8F0"/>
                </a:solidFill>
                <a:latin typeface="Arial"/>
              </a:rPr>
              <a:t>Promise.all() execution across 7 domain agents in &lt; 4.0s.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Defensive Fallbacks: </a:t>
            </a:r>
            <a:r>
              <a:rPr sz="1000">
                <a:solidFill>
                  <a:srgbClr val="E2E8F0"/>
                </a:solidFill>
                <a:latin typeface="Arial"/>
              </a:rPr>
              <a:t>Resilient parsing handles timeout edge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01168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194560"/>
            <a:ext cx="21031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87171"/>
                </a:solidFill>
                <a:latin typeface="Arial"/>
              </a:rPr>
              <a:t>Security &amp; Auth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Auth.js v5 (NextAuth): </a:t>
            </a:r>
            <a:r>
              <a:rPr sz="1000">
                <a:solidFill>
                  <a:srgbClr val="E2E8F0"/>
                </a:solidFill>
                <a:latin typeface="Arial"/>
              </a:rPr>
              <a:t>Session management with secure HTTP-only cookies.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Bcrypt Hashing: </a:t>
            </a:r>
            <a:r>
              <a:rPr sz="1000">
                <a:solidFill>
                  <a:srgbClr val="E2E8F0"/>
                </a:solidFill>
                <a:latin typeface="Arial"/>
              </a:rPr>
              <a:t>Credentials encrypted with 12 salt rounds.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Route Middleware: </a:t>
            </a:r>
            <a:r>
              <a:rPr sz="1000">
                <a:solidFill>
                  <a:srgbClr val="E2E8F0"/>
                </a:solidFill>
                <a:latin typeface="Arial"/>
              </a:rPr>
              <a:t>Protected route guards intercepting /dashboard.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Multi-Tenant Isolation: </a:t>
            </a:r>
            <a:r>
              <a:rPr sz="1000">
                <a:solidFill>
                  <a:srgbClr val="E2E8F0"/>
                </a:solidFill>
                <a:latin typeface="Arial"/>
              </a:rPr>
              <a:t>User ownership verified on every API mutation.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DATABASE DESIGN (FSD SYLLABUS ALIGNMENT)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FFFFFF"/>
                </a:solidFill>
                <a:latin typeface="Arial"/>
              </a:rPr>
              <a:t>Relational Schema &amp; PostgreSQL JSONB Storage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Clean normalization for stores, combined with high-performance document payloads for AI runs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Arial"/>
              </a:rPr>
              <a:t>Relational Entity Modeling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User Entity: </a:t>
            </a:r>
            <a:r>
              <a:rPr sz="1050">
                <a:solidFill>
                  <a:srgbClr val="E2E8F0"/>
                </a:solidFill>
                <a:latin typeface="Arial"/>
              </a:rPr>
              <a:t>id (CUID PK), email (Unique), name, password (Bcrypt), timestamps.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Business Entity (Store Master): </a:t>
            </a:r>
            <a:r>
              <a:rPr sz="1050">
                <a:solidFill>
                  <a:srgbClr val="E2E8F0"/>
                </a:solidFill>
                <a:latin typeface="Arial"/>
              </a:rPr>
              <a:t>userId (FK -&gt; User, CASCADE), name, monthlyRevenue, monthlyExpenses, AOV, CAC, ROAS, COD %, RTO %, healthScore.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BusinessSnapshot (Time-Series): </a:t>
            </a:r>
            <a:r>
              <a:rPr sz="1050">
                <a:solidFill>
                  <a:srgbClr val="E2E8F0"/>
                </a:solidFill>
                <a:latin typeface="Arial"/>
              </a:rPr>
              <a:t>businessId (FK, CASCADE), revenue, expenses, healthScore, AOV, CAC, createdAt. Enables historical trend charting.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Referential Cascade Rules: </a:t>
            </a:r>
            <a:r>
              <a:rPr sz="1050">
                <a:solidFill>
                  <a:srgbClr val="E2E8F0"/>
                </a:solidFill>
                <a:latin typeface="Arial"/>
              </a:rPr>
              <a:t>Deleting a store cascades to clean up its snapshots and analyses. Deleting a user SET NULL preserves historical CEO reports for audit.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1206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Arial"/>
              </a:rPr>
              <a:t>Hybrid JSONB Multi-Agent Design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Why JSONB over 15+ Tables?: </a:t>
            </a:r>
            <a:r>
              <a:rPr sz="1050">
                <a:solidFill>
                  <a:srgbClr val="E2E8F0"/>
                </a:solidFill>
                <a:latin typeface="Arial"/>
              </a:rPr>
              <a:t>Each agent produces deeply nested problems, insights, tools, and SOPs. Storing in JSONB avoids complex 7-way table joins and allows schema evolution without DDL migrations.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Analysis Entity: </a:t>
            </a:r>
            <a:r>
              <a:rPr sz="1050">
                <a:solidFill>
                  <a:srgbClr val="E2E8F0"/>
                </a:solidFill>
                <a:latin typeface="Arial"/>
              </a:rPr>
              <a:t>Stores status (COMPLETED), healthScore (0-100), summary (JSONB), and agents (JSONB array of 7 agent results).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Simulation Entity: </a:t>
            </a:r>
            <a:r>
              <a:rPr sz="1050">
                <a:solidFill>
                  <a:srgbClr val="E2E8F0"/>
                </a:solidFill>
                <a:latin typeface="Arial"/>
              </a:rPr>
              <a:t>Stores strategy, shortTermOutcome (JSONB), longTermOutcome (JSONB), risks (JSONB), opportunities (JSONB), confidenceScore.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Report Entity: </a:t>
            </a:r>
            <a:r>
              <a:rPr sz="1050">
                <a:solidFill>
                  <a:srgbClr val="E2E8F0"/>
                </a:solidFill>
                <a:latin typeface="Arial"/>
              </a:rPr>
              <a:t>Synthesizes Analysis and Simulation into executiveSummary, chiefRisk, topOpportunity, immediateAction, and actionPlan (JSONB).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AUTONOMOUS INTELLIGENCE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FFFFFF"/>
                </a:solidFill>
                <a:latin typeface="Arial"/>
              </a:rPr>
              <a:t>The 7 Parallel AI Domain Diagnostic Agents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Executed concurrently via Promise.all() in under 4 seconds via Groq LPU hardware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Arial"/>
              </a:rPr>
              <a:t>1. Finance Agent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FFFFF"/>
                </a:solidFill>
                <a:latin typeface="Arial"/>
              </a:rPr>
              <a:t>• Focus: </a:t>
            </a:r>
            <a:r>
              <a:rPr sz="950">
                <a:solidFill>
                  <a:srgbClr val="E2E8F0"/>
                </a:solidFill>
                <a:latin typeface="Arial"/>
              </a:rPr>
              <a:t>Gross Margin, Operating Expenses, COGS %, Net EBITDA.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FFFFF"/>
                </a:solidFill>
                <a:latin typeface="Arial"/>
              </a:rPr>
              <a:t>• Prescription: </a:t>
            </a:r>
            <a:r>
              <a:rPr sz="950">
                <a:solidFill>
                  <a:srgbClr val="E2E8F0"/>
                </a:solidFill>
                <a:latin typeface="Arial"/>
              </a:rPr>
              <a:t>Renegotiate supplier terms for top SKUs to recover 5% margin.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2918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Arial"/>
              </a:rPr>
              <a:t>2. Marketing Agent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FFFFF"/>
                </a:solidFill>
                <a:latin typeface="Arial"/>
              </a:rPr>
              <a:t>• Focus: </a:t>
            </a:r>
            <a:r>
              <a:rPr sz="950">
                <a:solidFill>
                  <a:srgbClr val="E2E8F0"/>
                </a:solidFill>
                <a:latin typeface="Arial"/>
              </a:rPr>
              <a:t>Blended CAC, Meta vs Google ROAS, Ad Spend Share.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FFFFF"/>
                </a:solidFill>
                <a:latin typeface="Arial"/>
              </a:rPr>
              <a:t>• Prescription: </a:t>
            </a:r>
            <a:r>
              <a:rPr sz="950">
                <a:solidFill>
                  <a:srgbClr val="E2E8F0"/>
                </a:solidFill>
                <a:latin typeface="Arial"/>
              </a:rPr>
              <a:t>Shift 40% budget to Creator UGC videos to lift ROAS from 2.2x to 3.1x.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918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87171"/>
                </a:solidFill>
                <a:latin typeface="Arial"/>
              </a:rPr>
              <a:t>3. Operations Agent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FFFFF"/>
                </a:solidFill>
                <a:latin typeface="Arial"/>
              </a:rPr>
              <a:t>• Focus: </a:t>
            </a:r>
            <a:r>
              <a:rPr sz="950">
                <a:solidFill>
                  <a:srgbClr val="E2E8F0"/>
                </a:solidFill>
                <a:latin typeface="Arial"/>
              </a:rPr>
              <a:t>COD %, RTO %, Courier Delivery SLA, Non-Delivery Reports.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FFFFF"/>
                </a:solidFill>
                <a:latin typeface="Arial"/>
              </a:rPr>
              <a:t>• Prescription: </a:t>
            </a:r>
            <a:r>
              <a:rPr sz="950">
                <a:solidFill>
                  <a:srgbClr val="E2E8F0"/>
                </a:solidFill>
                <a:latin typeface="Arial"/>
              </a:rPr>
              <a:t>Deploy automated WhatsApp NDR confirmation flow to cut RTO 6pp.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24688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21031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Arial"/>
              </a:rPr>
              <a:t>4. Tech Agent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FFFFF"/>
                </a:solidFill>
                <a:latin typeface="Arial"/>
              </a:rPr>
              <a:t>• Focus: </a:t>
            </a:r>
            <a:r>
              <a:rPr sz="900">
                <a:solidFill>
                  <a:srgbClr val="E2E8F0"/>
                </a:solidFill>
                <a:latin typeface="Arial"/>
              </a:rPr>
              <a:t>Mobile cart drop-off %.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FFFFF"/>
                </a:solidFill>
                <a:latin typeface="Arial"/>
              </a:rPr>
              <a:t>• Action: </a:t>
            </a:r>
            <a:r>
              <a:rPr sz="900">
                <a:solidFill>
                  <a:srgbClr val="E2E8F0"/>
                </a:solidFill>
                <a:latin typeface="Arial"/>
              </a:rPr>
              <a:t>Deploy Razorpay 1-click checkout.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4297680"/>
            <a:ext cx="24688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480560"/>
            <a:ext cx="21031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Arial"/>
              </a:rPr>
              <a:t>5. Unit Econ Agent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FFFFF"/>
                </a:solidFill>
                <a:latin typeface="Arial"/>
              </a:rPr>
              <a:t>• Focus: </a:t>
            </a:r>
            <a:r>
              <a:rPr sz="900">
                <a:solidFill>
                  <a:srgbClr val="E2E8F0"/>
                </a:solidFill>
                <a:latin typeface="Arial"/>
              </a:rPr>
              <a:t>Contribution Margin 2.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FFFFF"/>
                </a:solidFill>
                <a:latin typeface="Arial"/>
              </a:rPr>
              <a:t>• Action: </a:t>
            </a:r>
            <a:r>
              <a:rPr sz="900">
                <a:solidFill>
                  <a:srgbClr val="E2E8F0"/>
                </a:solidFill>
                <a:latin typeface="Arial"/>
              </a:rPr>
              <a:t>Bundle low-margin SKUs into 2-packs.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97680"/>
            <a:ext cx="24688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480560"/>
            <a:ext cx="21031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Arial"/>
              </a:rPr>
              <a:t>6. Inventory Agent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FFFFF"/>
                </a:solidFill>
                <a:latin typeface="Arial"/>
              </a:rPr>
              <a:t>• Focus: </a:t>
            </a:r>
            <a:r>
              <a:rPr sz="900">
                <a:solidFill>
                  <a:srgbClr val="E2E8F0"/>
                </a:solidFill>
                <a:latin typeface="Arial"/>
              </a:rPr>
              <a:t>Deadstock capital lockup.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FFFFF"/>
                </a:solidFill>
                <a:latin typeface="Arial"/>
              </a:rPr>
              <a:t>• Action: </a:t>
            </a:r>
            <a:r>
              <a:rPr sz="900">
                <a:solidFill>
                  <a:srgbClr val="E2E8F0"/>
                </a:solidFill>
                <a:latin typeface="Arial"/>
              </a:rPr>
              <a:t>Flash clearance of &gt;60-day inventory.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4297680"/>
            <a:ext cx="24688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480560"/>
            <a:ext cx="21031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C084FC"/>
                </a:solidFill>
                <a:latin typeface="Arial"/>
              </a:rPr>
              <a:t>7. Retention Agent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FFFFF"/>
                </a:solidFill>
                <a:latin typeface="Arial"/>
              </a:rPr>
              <a:t>• Focus: </a:t>
            </a:r>
            <a:r>
              <a:rPr sz="900">
                <a:solidFill>
                  <a:srgbClr val="E2E8F0"/>
                </a:solidFill>
                <a:latin typeface="Arial"/>
              </a:rPr>
              <a:t>Repeat purchase cohort.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FFFFF"/>
                </a:solidFill>
                <a:latin typeface="Arial"/>
              </a:rPr>
              <a:t>• Action: </a:t>
            </a:r>
            <a:r>
              <a:rPr sz="900">
                <a:solidFill>
                  <a:srgbClr val="E2E8F0"/>
                </a:solidFill>
                <a:latin typeface="Arial"/>
              </a:rPr>
              <a:t>3-step WhatsApp VIP post-delivery.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EMPIRICAL VALIDATION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FFFFFF"/>
                </a:solidFill>
                <a:latin typeface="Arial"/>
              </a:rPr>
              <a:t>Case Study: 'Ethnic Elegance' D2C Apparel Brand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Demonstrating concrete diagnostic results and financial upside on real-world Indian e-commerce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9260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87171"/>
                </a:solidFill>
                <a:latin typeface="Arial"/>
              </a:rPr>
              <a:t>Initial Baseline Metrics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Monthly Revenue: </a:t>
            </a:r>
            <a:r>
              <a:rPr sz="1000">
                <a:solidFill>
                  <a:srgbClr val="E2E8F0"/>
                </a:solidFill>
                <a:latin typeface="Arial"/>
              </a:rPr>
              <a:t>₹18,40,000 (1,240 orders/month)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Monthly Expenses: </a:t>
            </a:r>
            <a:r>
              <a:rPr sz="1000">
                <a:solidFill>
                  <a:srgbClr val="E2E8F0"/>
                </a:solidFill>
                <a:latin typeface="Arial"/>
              </a:rPr>
              <a:t>₹11,20,000 (Net Margin: 39.1%)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COD Dependency: </a:t>
            </a:r>
            <a:r>
              <a:rPr sz="1000">
                <a:solidFill>
                  <a:srgbClr val="E2E8F0"/>
                </a:solidFill>
                <a:latin typeface="Arial"/>
              </a:rPr>
              <a:t>62% of all orders placed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COD RTO Rate: </a:t>
            </a:r>
            <a:r>
              <a:rPr sz="1000">
                <a:solidFill>
                  <a:srgbClr val="E2E8F0"/>
                </a:solidFill>
                <a:latin typeface="Arial"/>
              </a:rPr>
              <a:t>22% (vs 12–15% industry benchmark)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Freight Loss: </a:t>
            </a:r>
            <a:r>
              <a:rPr sz="1000">
                <a:solidFill>
                  <a:srgbClr val="E2E8F0"/>
                </a:solidFill>
                <a:latin typeface="Arial"/>
              </a:rPr>
              <a:t>₹23,900/month in wasted shipping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Meta Ads ROAS: </a:t>
            </a:r>
            <a:r>
              <a:rPr sz="1000">
                <a:solidFill>
                  <a:srgbClr val="E2E8F0"/>
                </a:solidFill>
                <a:latin typeface="Arial"/>
              </a:rPr>
              <a:t>Fell from 3.8x to 2.2x over 60 days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Initial Health Score: </a:t>
            </a:r>
            <a:r>
              <a:rPr sz="1000">
                <a:solidFill>
                  <a:srgbClr val="E2E8F0"/>
                </a:solidFill>
                <a:latin typeface="Arial"/>
              </a:rPr>
              <a:t>58 / 100 (Status: Fair)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7040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66751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Arial"/>
              </a:rPr>
              <a:t>Diagnostic Findings &amp; Financial Recovery Plan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Finance Bottleneck (Critical): </a:t>
            </a:r>
            <a:r>
              <a:rPr sz="1000">
                <a:solidFill>
                  <a:srgbClr val="E2E8F0"/>
                </a:solidFill>
                <a:latin typeface="Arial"/>
              </a:rPr>
              <a:t>Gross profit margin is 39.1% (16 points below apparel benchmark of 55–65%). Renegotiating supplier terms for top 3 ethnic SKUs recovers 5% COGS margin → +₹92,000/month net profit.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Operations Crisis (Critical): </a:t>
            </a:r>
            <a:r>
              <a:rPr sz="1000">
                <a:solidFill>
                  <a:srgbClr val="E2E8F0"/>
                </a:solidFill>
                <a:latin typeface="Arial"/>
              </a:rPr>
              <a:t>169 COD orders returned to origin every month. Deploying automated WhatsApp NDR confirmation flow within 2 hours of failed delivery cuts RTO by 6pp → Saves ₹14,300/month freight waste.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Marketing Fatigue (High): </a:t>
            </a:r>
            <a:r>
              <a:rPr sz="1000">
                <a:solidFill>
                  <a:srgbClr val="E2E8F0"/>
                </a:solidFill>
                <a:latin typeface="Arial"/>
              </a:rPr>
              <a:t>Blended CAC of ₹680 is 46% of AOV (₹1,480). Reallocating 40% of ad spend to creator video UGC lifts ROAS to 3.1x → Saves ₹54,000/month in wasted spend.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Technology Friction (High): </a:t>
            </a:r>
            <a:r>
              <a:rPr sz="1000">
                <a:solidFill>
                  <a:srgbClr val="E2E8F0"/>
                </a:solidFill>
                <a:latin typeface="Arial"/>
              </a:rPr>
              <a:t>Mobile cart abandonment is 78%. Deploying Razorpay Magic 1-Click Checkout lifts conversion by 0.6% → +₹1,84,000/month incremental sales.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Total Projected Value: </a:t>
            </a:r>
            <a:r>
              <a:rPr sz="1000">
                <a:solidFill>
                  <a:srgbClr val="E2E8F0"/>
                </a:solidFill>
                <a:latin typeface="Arial"/>
              </a:rPr>
              <a:t>₹3,44,300/month in recovered profit &amp; incremental revenue with an upgraded Health Score of 82/100.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PRODUCT CAPABILITIES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FFFFFF"/>
                </a:solidFill>
                <a:latin typeface="Arial"/>
              </a:rPr>
              <a:t>Core Application Modules &amp; Feature Walkthrough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A seamless end-to-end founder experience from onboarding to PDF board export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Arial"/>
              </a:rPr>
              <a:t>1. Zero-Config Demo (/demo)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Instant Experience: </a:t>
            </a:r>
            <a:r>
              <a:rPr sz="1000">
                <a:solidFill>
                  <a:srgbClr val="E2E8F0"/>
                </a:solidFill>
                <a:latin typeface="Arial"/>
              </a:rPr>
              <a:t>Test drive without entering API keys.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Pre-Loaded Case Study: </a:t>
            </a:r>
            <a:r>
              <a:rPr sz="1000">
                <a:solidFill>
                  <a:srgbClr val="E2E8F0"/>
                </a:solidFill>
                <a:latin typeface="Arial"/>
              </a:rPr>
              <a:t>Visualizes the full Ethnic Elegance diagnosis.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2918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Arial"/>
              </a:rPr>
              <a:t>2. Founder Command Center (/dashboard)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Radial Health Gauge: </a:t>
            </a:r>
            <a:r>
              <a:rPr sz="1000">
                <a:solidFill>
                  <a:srgbClr val="E2E8F0"/>
                </a:solidFill>
                <a:latin typeface="Arial"/>
              </a:rPr>
              <a:t>Instant high-level 0-100 benchmark.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Monthly Run-Rate: </a:t>
            </a:r>
            <a:r>
              <a:rPr sz="1000">
                <a:solidFill>
                  <a:srgbClr val="E2E8F0"/>
                </a:solidFill>
                <a:latin typeface="Arial"/>
              </a:rPr>
              <a:t>Revenue, expenses, and quick-action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918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Arial"/>
              </a:rPr>
              <a:t>3. Diagnostic Studio (/diagnose)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7 Parallel Accordions: </a:t>
            </a:r>
            <a:r>
              <a:rPr sz="1000">
                <a:solidFill>
                  <a:srgbClr val="E2E8F0"/>
                </a:solidFill>
                <a:latin typeface="Arial"/>
              </a:rPr>
              <a:t>Problems, domain insights, and tools.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Prescriptive SOPs: </a:t>
            </a:r>
            <a:r>
              <a:rPr sz="1000">
                <a:solidFill>
                  <a:srgbClr val="E2E8F0"/>
                </a:solidFill>
                <a:latin typeface="Arial"/>
              </a:rPr>
              <a:t>Step-by-step click paths &amp; templates.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32918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C084FC"/>
                </a:solidFill>
                <a:latin typeface="Arial"/>
              </a:rPr>
              <a:t>4. Strategy Simulator (/simulate)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Hypothesis Testing: </a:t>
            </a:r>
            <a:r>
              <a:rPr sz="1000">
                <a:solidFill>
                  <a:srgbClr val="E2E8F0"/>
                </a:solidFill>
                <a:latin typeface="Arial"/>
              </a:rPr>
              <a:t>Simulate strategic moves before deploying cash.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P&amp;L Forecasts: </a:t>
            </a:r>
            <a:r>
              <a:rPr sz="1000">
                <a:solidFill>
                  <a:srgbClr val="E2E8F0"/>
                </a:solidFill>
                <a:latin typeface="Arial"/>
              </a:rPr>
              <a:t>30-day cash flow vs 90-day margin expansion.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297680"/>
            <a:ext cx="32918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48056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Arial"/>
              </a:rPr>
              <a:t>5. CEO Executive Report (/report)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C-Suite Synthesis: </a:t>
            </a:r>
            <a:r>
              <a:rPr sz="1000">
                <a:solidFill>
                  <a:srgbClr val="E2E8F0"/>
                </a:solidFill>
                <a:latin typeface="Arial"/>
              </a:rPr>
              <a:t>Chief Risk, Top Opportunity, 7-day priority.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1-Click PDF Export: </a:t>
            </a:r>
            <a:r>
              <a:rPr sz="1000">
                <a:solidFill>
                  <a:srgbClr val="E2E8F0"/>
                </a:solidFill>
                <a:latin typeface="Arial"/>
              </a:rPr>
              <a:t>Client-side compilation via jsPDF.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297680"/>
            <a:ext cx="32918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48056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Arial"/>
              </a:rPr>
              <a:t>6. History &amp; Metrics (/history)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Longitudinal Tracking: </a:t>
            </a:r>
            <a:r>
              <a:rPr sz="1000">
                <a:solidFill>
                  <a:srgbClr val="E2E8F0"/>
                </a:solidFill>
                <a:latin typeface="Arial"/>
              </a:rPr>
              <a:t>Immutable snapshots over time.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• Recharts Analytics: </a:t>
            </a:r>
            <a:r>
              <a:rPr sz="1000">
                <a:solidFill>
                  <a:srgbClr val="E2E8F0"/>
                </a:solidFill>
                <a:latin typeface="Arial"/>
              </a:rPr>
              <a:t>Visualizing health score recovery curves.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TECHNICAL BENCHMARKS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FFFFFF"/>
                </a:solidFill>
                <a:latin typeface="Arial"/>
              </a:rPr>
              <a:t>Performance, Build Verification &amp; Academic Alignment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Proven sub-second compilation, sub-4s AI inference, and 100% test pass 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9260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Arial"/>
              </a:rPr>
              <a:t>Inference Speedup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Sequential LLM Chaining: </a:t>
            </a:r>
            <a:r>
              <a:rPr sz="1050">
                <a:solidFill>
                  <a:srgbClr val="E2E8F0"/>
                </a:solidFill>
                <a:latin typeface="Arial"/>
              </a:rPr>
              <a:t>Takes 27.42 seconds to complete 7 agents (leads to high bounce rates).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Parallel Groq LPU (GrowthOS): </a:t>
            </a:r>
            <a:r>
              <a:rPr sz="1050">
                <a:solidFill>
                  <a:srgbClr val="E2E8F0"/>
                </a:solidFill>
                <a:latin typeface="Arial"/>
              </a:rPr>
              <a:t>Takes only 3.82 seconds!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Latency Reduction: </a:t>
            </a:r>
            <a:r>
              <a:rPr sz="1050">
                <a:solidFill>
                  <a:srgbClr val="E2E8F0"/>
                </a:solidFill>
                <a:latin typeface="Arial"/>
              </a:rPr>
              <a:t>86% reduction in user wait time.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Throughput: </a:t>
            </a:r>
            <a:r>
              <a:rPr sz="1050">
                <a:solidFill>
                  <a:srgbClr val="E2E8F0"/>
                </a:solidFill>
                <a:latin typeface="Arial"/>
              </a:rPr>
              <a:t>~480 tokens/sec across parallel workers.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Reliability: </a:t>
            </a:r>
            <a:r>
              <a:rPr sz="1050">
                <a:solidFill>
                  <a:srgbClr val="E2E8F0"/>
                </a:solidFill>
                <a:latin typeface="Arial"/>
              </a:rPr>
              <a:t>99.8% completion rate with defensive fallback parsing.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29260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Arial"/>
              </a:rPr>
              <a:t>Production Build Telemetry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Build Command: </a:t>
            </a:r>
            <a:r>
              <a:rPr sz="1050">
                <a:solidFill>
                  <a:srgbClr val="E2E8F0"/>
                </a:solidFill>
                <a:latin typeface="Arial"/>
              </a:rPr>
              <a:t>npm run build (Next.js 16 + Turbopack)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Compilation Result: </a:t>
            </a:r>
            <a:r>
              <a:rPr sz="1050">
                <a:solidFill>
                  <a:srgbClr val="E2E8F0"/>
                </a:solidFill>
                <a:latin typeface="Arial"/>
              </a:rPr>
              <a:t>Compiled successfully with 0 errors!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TypeScript Validation: </a:t>
            </a:r>
            <a:r>
              <a:rPr sz="1050">
                <a:solidFill>
                  <a:srgbClr val="E2E8F0"/>
                </a:solidFill>
                <a:latin typeface="Arial"/>
              </a:rPr>
              <a:t>Strict type-checking passed in 19.1s.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Route Generation: </a:t>
            </a:r>
            <a:r>
              <a:rPr sz="1050">
                <a:solidFill>
                  <a:srgbClr val="E2E8F0"/>
                </a:solidFill>
                <a:latin typeface="Arial"/>
              </a:rPr>
              <a:t>20 static and dynamic routes compiled.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Worker Allocation: </a:t>
            </a:r>
            <a:r>
              <a:rPr sz="1050">
                <a:solidFill>
                  <a:srgbClr val="E2E8F0"/>
                </a:solidFill>
                <a:latin typeface="Arial"/>
              </a:rPr>
              <a:t>11 parallel worker threads utilized.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29260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Arial"/>
              </a:rPr>
              <a:t>FSD Syllabus Alignment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MVC Architecture: </a:t>
            </a:r>
            <a:r>
              <a:rPr sz="1050">
                <a:solidFill>
                  <a:srgbClr val="E2E8F0"/>
                </a:solidFill>
                <a:latin typeface="Arial"/>
              </a:rPr>
              <a:t>Route Handlers (Controllers), React (Views), Prisma (Models).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ORM &amp; Relational Integrity: </a:t>
            </a:r>
            <a:r>
              <a:rPr sz="1050">
                <a:solidFill>
                  <a:srgbClr val="E2E8F0"/>
                </a:solidFill>
                <a:latin typeface="Arial"/>
              </a:rPr>
              <a:t>PostgreSQL foreign keys + JSONB.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REST Web Services: </a:t>
            </a:r>
            <a:r>
              <a:rPr sz="1050">
                <a:solidFill>
                  <a:srgbClr val="E2E8F0"/>
                </a:solidFill>
                <a:latin typeface="Arial"/>
              </a:rPr>
              <a:t>Strict adherence to RFC 7231 standards.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Centralized Exception Handling: </a:t>
            </a:r>
            <a:r>
              <a:rPr sz="1050">
                <a:solidFill>
                  <a:srgbClr val="E2E8F0"/>
                </a:solidFill>
                <a:latin typeface="Arial"/>
              </a:rPr>
              <a:t>Standardized RFC 7807 error responses.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Documentation: </a:t>
            </a:r>
            <a:r>
              <a:rPr sz="1050">
                <a:solidFill>
                  <a:srgbClr val="E2E8F0"/>
                </a:solidFill>
                <a:latin typeface="Arial"/>
              </a:rPr>
              <a:t>OpenAPI 3.0 contract &amp; Swagger 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SUMMARY &amp; NEXT STEPS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FFFFFF"/>
                </a:solidFill>
                <a:latin typeface="Arial"/>
              </a:rPr>
              <a:t>Conclusion &amp; Future Product Roadmap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Democratizing institutional growth intelligence for direct-to-consumer enterprises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Arial"/>
              </a:rPr>
              <a:t>Key Project Achievements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Unified Operational Intelligence: </a:t>
            </a:r>
            <a:r>
              <a:rPr sz="1050">
                <a:solidFill>
                  <a:srgbClr val="E2E8F0"/>
                </a:solidFill>
                <a:latin typeface="Arial"/>
              </a:rPr>
              <a:t>Eliminated data fragmentation across marketing, finance, and logistics.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Sub-4 Second AI Audit: </a:t>
            </a:r>
            <a:r>
              <a:rPr sz="1050">
                <a:solidFill>
                  <a:srgbClr val="E2E8F0"/>
                </a:solidFill>
                <a:latin typeface="Arial"/>
              </a:rPr>
              <a:t>First platform to run 7 domain LLM agents concurrently on Groq LPUs.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Prescriptive Execution: </a:t>
            </a:r>
            <a:r>
              <a:rPr sz="1050">
                <a:solidFill>
                  <a:srgbClr val="E2E8F0"/>
                </a:solidFill>
                <a:latin typeface="Arial"/>
              </a:rPr>
              <a:t>Shifted from passive data visualization to dollar-quantified SOP roadmaps.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Full Multi-Tenant Security: </a:t>
            </a:r>
            <a:r>
              <a:rPr sz="1050">
                <a:solidFill>
                  <a:srgbClr val="E2E8F0"/>
                </a:solidFill>
                <a:latin typeface="Arial"/>
              </a:rPr>
              <a:t>Production-grade authentication, Bcrypt encryption, and route middleware protection.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Complete Submissions Ready: </a:t>
            </a:r>
            <a:r>
              <a:rPr sz="1050">
                <a:solidFill>
                  <a:srgbClr val="E2E8F0"/>
                </a:solidFill>
                <a:latin typeface="Arial"/>
              </a:rPr>
              <a:t>FA-1, FA-2, 10-Experiment Manual, Master Documentation, and Project Report compiled.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1206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Arial"/>
              </a:rPr>
              <a:t>Future Product Enhancements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Automated Webhook Sync: </a:t>
            </a:r>
            <a:r>
              <a:rPr sz="1050">
                <a:solidFill>
                  <a:srgbClr val="E2E8F0"/>
                </a:solidFill>
                <a:latin typeface="Arial"/>
              </a:rPr>
              <a:t>Real-time order and inventory ingestion from Shopify and WooCommerce.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Autonomous NDR Flow: </a:t>
            </a:r>
            <a:r>
              <a:rPr sz="1050">
                <a:solidFill>
                  <a:srgbClr val="E2E8F0"/>
                </a:solidFill>
                <a:latin typeface="Arial"/>
              </a:rPr>
              <a:t>Direct API integration with Shiprocket and Delhivery to trigger WhatsApp recovery flows automatically.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Dynamic Ad Reallocation: </a:t>
            </a:r>
            <a:r>
              <a:rPr sz="1050">
                <a:solidFill>
                  <a:srgbClr val="E2E8F0"/>
                </a:solidFill>
                <a:latin typeface="Arial"/>
              </a:rPr>
              <a:t>Integration with Meta Marketing API to pause underperforming ad sets when ROAS drops below threshold.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Multi-Currency Support: </a:t>
            </a:r>
            <a:r>
              <a:rPr sz="1050">
                <a:solidFill>
                  <a:srgbClr val="E2E8F0"/>
                </a:solidFill>
                <a:latin typeface="Arial"/>
              </a:rPr>
              <a:t>Cross-border expansion supporting USD, EUR, GBP, and AED pricing.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• Voice &amp; WhatsApp Bot: </a:t>
            </a:r>
            <a:r>
              <a:rPr sz="1050">
                <a:solidFill>
                  <a:srgbClr val="E2E8F0"/>
                </a:solidFill>
                <a:latin typeface="Arial"/>
              </a:rPr>
              <a:t>Conversational AI agent allowing founders to query store health via WhatsApp voice notes.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Thank You!</a:t>
            </a:r>
          </a:p>
          <a:p>
            <a:pPr>
              <a:spcBef>
                <a:spcPts val="1200"/>
              </a:spcBef>
            </a:pPr>
            <a:r>
              <a:rPr sz="2000" b="1">
                <a:solidFill>
                  <a:srgbClr val="FBBF24"/>
                </a:solidFill>
                <a:latin typeface="Arial"/>
              </a:rPr>
              <a:t>GrowthOS — Institutional-Grade Intelligence for D2C Founders</a:t>
            </a:r>
          </a:p>
          <a:p>
            <a:pPr>
              <a:spcBef>
                <a:spcPts val="2000"/>
              </a:spcBef>
            </a:pPr>
            <a:r>
              <a:rPr sz="1600">
                <a:solidFill>
                  <a:srgbClr val="38BDF8"/>
                </a:solidFill>
                <a:latin typeface="Arial"/>
              </a:rPr>
              <a:t>Ready for Questions &amp; Live Product Demonstration</a:t>
            </a:r>
          </a:p>
          <a:p>
            <a:pPr>
              <a:spcBef>
                <a:spcPts val="24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GitHub Repository: https://github.com/jain44/GrowthOS
Live Demo Route: http://localhost:3000/demo
Project Stack: Next.js 16 · PostgreSQL · Prisma 6 · Groq LPU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